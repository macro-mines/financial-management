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7" r:id="rId10"/>
    <p:sldId id="268" r:id="rId11"/>
    <p:sldId id="285" r:id="rId12"/>
    <p:sldId id="270" r:id="rId13"/>
    <p:sldId id="271" r:id="rId14"/>
    <p:sldId id="283" r:id="rId15"/>
    <p:sldId id="287" r:id="rId16"/>
    <p:sldId id="288" r:id="rId17"/>
    <p:sldId id="274" r:id="rId18"/>
    <p:sldId id="284" r:id="rId19"/>
    <p:sldId id="286" r:id="rId20"/>
    <p:sldId id="289" r:id="rId21"/>
    <p:sldId id="290" r:id="rId22"/>
    <p:sldId id="276" r:id="rId23"/>
    <p:sldId id="275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6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BAD3B-2F32-4748-9704-591DD9F6C7AF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5A528-8DBC-43A6-9DF2-08D379D2B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285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5A528-8DBC-43A6-9DF2-08D379D2BA15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690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27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53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84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9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5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6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80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4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19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4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4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59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6858000" cy="19050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Time value of money</a:t>
            </a:r>
            <a:br>
              <a:rPr lang="en-US" dirty="0">
                <a:latin typeface="Comic Sans MS" pitchFamily="66" charset="0"/>
              </a:rPr>
            </a:br>
            <a:br>
              <a:rPr lang="en-US" dirty="0">
                <a:latin typeface="Comic Sans MS" pitchFamily="66" charset="0"/>
              </a:rPr>
            </a:br>
            <a:r>
              <a:rPr lang="en-US" sz="2000" dirty="0">
                <a:latin typeface="Comic Sans MS" pitchFamily="66" charset="0"/>
              </a:rPr>
              <a:t>The Magic of Compounding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685800"/>
            <a:ext cx="7772400" cy="4572000"/>
          </a:xfrm>
        </p:spPr>
        <p:txBody>
          <a:bodyPr>
            <a:normAutofit/>
          </a:bodyPr>
          <a:lstStyle/>
          <a:p>
            <a:endParaRPr lang="en-US" sz="2400" dirty="0">
              <a:latin typeface="Comic Sans MS" pitchFamily="66" charset="0"/>
            </a:endParaRPr>
          </a:p>
          <a:p>
            <a:r>
              <a:rPr lang="en-US" sz="2400" dirty="0">
                <a:latin typeface="Comic Sans MS" pitchFamily="66" charset="0"/>
              </a:rPr>
              <a:t>The Concept states that-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Comic Sans MS" pitchFamily="66" charset="0"/>
              </a:rPr>
              <a:t>“ A rupee today is more valuable than a rupee a year hence.”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Reasons for TVM</a:t>
            </a:r>
            <a:r>
              <a:rPr lang="en-US" dirty="0"/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8229600" cy="403860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 In </a:t>
            </a:r>
            <a:r>
              <a:rPr lang="en-US" dirty="0">
                <a:latin typeface="Comic Sans MS" pitchFamily="66" charset="0"/>
              </a:rPr>
              <a:t>general investors prefer current consumption to future consumption.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>
                <a:latin typeface="Comic Sans MS" pitchFamily="66" charset="0"/>
              </a:rPr>
              <a:t>As investment of one rupee today would grow to (1+r) a year hence 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>
                <a:latin typeface="Comic Sans MS" pitchFamily="66" charset="0"/>
              </a:rPr>
              <a:t>Inflation – a continuous rise in Prices</a:t>
            </a:r>
          </a:p>
          <a:p>
            <a:pPr algn="just">
              <a:buFont typeface="Wingdings" pitchFamily="2" charset="2"/>
              <a:buChar char="v"/>
            </a:pPr>
            <a:endParaRPr lang="en-US" dirty="0"/>
          </a:p>
          <a:p>
            <a:pPr algn="just">
              <a:buNone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143000" y="2514600"/>
            <a:ext cx="7391400" cy="2667000"/>
          </a:xfrm>
          <a:noFill/>
          <a:ln/>
        </p:spPr>
        <p:txBody>
          <a:bodyPr/>
          <a:lstStyle/>
          <a:p>
            <a:pPr algn="ctr">
              <a:spcAft>
                <a:spcPct val="75000"/>
              </a:spcAft>
              <a:buFont typeface="Monotype Sorts" pitchFamily="2" charset="2"/>
              <a:buNone/>
            </a:pPr>
            <a:r>
              <a:rPr lang="en-US" sz="3200" dirty="0"/>
              <a:t>Obviously, </a:t>
            </a:r>
            <a:r>
              <a:rPr lang="en-US" sz="320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Rs</a:t>
            </a:r>
            <a:r>
              <a:rPr lang="en-US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 10,000 today</a:t>
            </a:r>
            <a:r>
              <a:rPr lang="en-US" sz="3200" dirty="0"/>
              <a:t>.</a:t>
            </a:r>
            <a:endParaRPr lang="en-US" sz="1600" dirty="0"/>
          </a:p>
          <a:p>
            <a:pPr algn="ctr">
              <a:spcAft>
                <a:spcPct val="75000"/>
              </a:spcAft>
              <a:buFont typeface="Monotype Sorts" pitchFamily="2" charset="2"/>
              <a:buNone/>
            </a:pPr>
            <a:r>
              <a:rPr lang="en-US" sz="3200" dirty="0"/>
              <a:t>You already recognize that there is </a:t>
            </a:r>
            <a:r>
              <a:rPr lang="en-US" sz="32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TIME VALUE TO MONEY</a:t>
            </a:r>
            <a:r>
              <a:rPr lang="en-US" sz="3200" i="1" dirty="0">
                <a:solidFill>
                  <a:srgbClr val="FF0000"/>
                </a:solidFill>
              </a:rPr>
              <a:t>!!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sz="half" idx="2"/>
          </p:nvPr>
        </p:nvSpPr>
        <p:spPr>
          <a:xfrm>
            <a:off x="990600" y="914400"/>
            <a:ext cx="7162800" cy="1219200"/>
          </a:xfrm>
          <a:noFill/>
          <a:ln/>
        </p:spPr>
        <p:txBody>
          <a:bodyPr/>
          <a:lstStyle/>
          <a:p>
            <a:pPr algn="ctr">
              <a:spcAft>
                <a:spcPct val="75000"/>
              </a:spcAft>
              <a:buFont typeface="Monotype Sorts" pitchFamily="2" charset="2"/>
              <a:buNone/>
            </a:pPr>
            <a:r>
              <a:rPr lang="en-US" sz="3200" dirty="0"/>
              <a:t>Which would you prefer – </a:t>
            </a:r>
            <a:r>
              <a:rPr lang="en-US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Rs.10,000 today </a:t>
            </a:r>
            <a:r>
              <a:rPr lang="en-US" sz="3200" dirty="0"/>
              <a:t>or </a:t>
            </a:r>
            <a:r>
              <a:rPr lang="en-US" sz="32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Rs</a:t>
            </a:r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. 10,000 in 5 years</a:t>
            </a:r>
            <a:r>
              <a:rPr lang="en-US" sz="3200" dirty="0"/>
              <a:t>?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685800"/>
            <a:ext cx="7772400" cy="57912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92D050"/>
                </a:solidFill>
                <a:latin typeface="Comic Sans MS" pitchFamily="66" charset="0"/>
              </a:rPr>
              <a:t>Compounding : </a:t>
            </a:r>
            <a:r>
              <a:rPr lang="en-US" sz="2800" dirty="0">
                <a:latin typeface="Comic Sans MS" pitchFamily="66" charset="0"/>
              </a:rPr>
              <a:t>It is a process of finding the Future value of present investment.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omic Sans MS" pitchFamily="66" charset="0"/>
              </a:rPr>
              <a:t>		FV= PV *  Compounding (FVF)(r,n)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Comic Sans MS" pitchFamily="66" charset="0"/>
              </a:rPr>
              <a:t>		Rate is called as </a:t>
            </a:r>
            <a:r>
              <a:rPr lang="en-US" sz="2600" dirty="0">
                <a:solidFill>
                  <a:srgbClr val="FF0000"/>
                </a:solidFill>
                <a:latin typeface="Comic Sans MS" pitchFamily="66" charset="0"/>
              </a:rPr>
              <a:t>Compound rate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itchFamily="66" charset="0"/>
              </a:rPr>
              <a:t>Discounting : </a:t>
            </a:r>
            <a:r>
              <a:rPr lang="en-US" sz="2800" dirty="0">
                <a:latin typeface="Comic Sans MS" pitchFamily="66" charset="0"/>
              </a:rPr>
              <a:t>It is a process of finding the Present value of investment 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omic Sans MS" pitchFamily="66" charset="0"/>
              </a:rPr>
              <a:t>		PV= FV *  Discounting(PVF)(</a:t>
            </a:r>
            <a:r>
              <a:rPr lang="en-US" sz="2800" dirty="0">
                <a:solidFill>
                  <a:srgbClr val="92D050"/>
                </a:solidFill>
                <a:latin typeface="Comic Sans MS" pitchFamily="66" charset="0"/>
              </a:rPr>
              <a:t>r</a:t>
            </a:r>
            <a:r>
              <a:rPr lang="en-US" sz="2800" dirty="0">
                <a:latin typeface="Comic Sans MS" pitchFamily="66" charset="0"/>
              </a:rPr>
              <a:t>,n)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omic Sans MS" pitchFamily="66" charset="0"/>
              </a:rPr>
              <a:t>The interest rate used to discount cash flows is generally called the </a:t>
            </a:r>
            <a:r>
              <a:rPr lang="en-US" sz="2800" dirty="0">
                <a:solidFill>
                  <a:srgbClr val="FF0000"/>
                </a:solidFill>
                <a:latin typeface="Comic Sans MS" pitchFamily="66" charset="0"/>
              </a:rPr>
              <a:t>discount rate</a:t>
            </a:r>
          </a:p>
          <a:p>
            <a:pPr>
              <a:lnSpc>
                <a:spcPct val="150000"/>
              </a:lnSpc>
              <a:buNone/>
            </a:pPr>
            <a:endParaRPr lang="en-US" sz="2800" dirty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609600"/>
            <a:ext cx="6858000" cy="630936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Comic Sans MS" pitchFamily="66" charset="0"/>
              </a:rPr>
              <a:t>Types of TVM Calculations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783560"/>
            <a:ext cx="7772400" cy="3779040"/>
          </a:xfrm>
        </p:spPr>
        <p:txBody>
          <a:bodyPr/>
          <a:lstStyle/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latin typeface="Comic Sans MS" pitchFamily="66" charset="0"/>
              </a:rPr>
              <a:t>Present value of a lump sum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latin typeface="Comic Sans MS" pitchFamily="66" charset="0"/>
              </a:rPr>
              <a:t>Future value of a lump sum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latin typeface="Comic Sans MS" pitchFamily="66" charset="0"/>
              </a:rPr>
              <a:t>Present and future value of annuities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latin typeface="Comic Sans MS" pitchFamily="66" charset="0"/>
              </a:rPr>
              <a:t>Present and future value of cash flow streams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9EFFB-6E87-4CE5-AD22-57A83BA62DA0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762000"/>
            <a:ext cx="6096000" cy="838200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Comic Sans MS" pitchFamily="66" charset="0"/>
              </a:rPr>
              <a:t>Present Value of a Lump Sum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981200"/>
            <a:ext cx="8153400" cy="2819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mic Sans MS" pitchFamily="66" charset="0"/>
              </a:rPr>
              <a:t>Present value calculations determine what the value of a cash flow </a:t>
            </a:r>
            <a:r>
              <a:rPr lang="en-US" dirty="0">
                <a:solidFill>
                  <a:srgbClr val="92D050"/>
                </a:solidFill>
                <a:latin typeface="Comic Sans MS" pitchFamily="66" charset="0"/>
              </a:rPr>
              <a:t>received in the future </a:t>
            </a:r>
            <a:r>
              <a:rPr lang="en-US" dirty="0">
                <a:latin typeface="Comic Sans MS" pitchFamily="66" charset="0"/>
              </a:rPr>
              <a:t>would be </a:t>
            </a:r>
            <a:r>
              <a:rPr lang="en-US" dirty="0">
                <a:solidFill>
                  <a:srgbClr val="92D050"/>
                </a:solidFill>
                <a:latin typeface="Comic Sans MS" pitchFamily="66" charset="0"/>
              </a:rPr>
              <a:t>worth today</a:t>
            </a:r>
            <a:r>
              <a:rPr lang="en-US" dirty="0">
                <a:latin typeface="Comic Sans MS" pitchFamily="66" charset="0"/>
              </a:rPr>
              <a:t>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327BE-536C-4EDE-9D1E-68C8C0662F8D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7724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92D050"/>
                </a:solidFill>
                <a:latin typeface="Comic Sans MS" pitchFamily="66" charset="0"/>
              </a:rPr>
              <a:t>Example of PV of a Lump Sum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143000"/>
            <a:ext cx="7772400" cy="5029200"/>
          </a:xfrm>
        </p:spPr>
        <p:txBody>
          <a:bodyPr>
            <a:noAutofit/>
          </a:bodyPr>
          <a:lstStyle/>
          <a:p>
            <a:pPr marL="609600" indent="-609600">
              <a:lnSpc>
                <a:spcPct val="150000"/>
              </a:lnSpc>
            </a:pPr>
            <a:r>
              <a:rPr lang="en-US" sz="2400" dirty="0">
                <a:latin typeface="Comic Sans MS" pitchFamily="66" charset="0"/>
              </a:rPr>
              <a:t>How much would Rs 100 received five years from now be worth today if the current interest rate is 10%?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sz="2400" dirty="0">
                <a:latin typeface="Comic Sans MS" pitchFamily="66" charset="0"/>
              </a:rPr>
              <a:t>	Draw a timeline</a:t>
            </a:r>
          </a:p>
          <a:p>
            <a:pPr marL="609600" indent="-609600">
              <a:lnSpc>
                <a:spcPct val="150000"/>
              </a:lnSpc>
              <a:buNone/>
            </a:pPr>
            <a:endParaRPr lang="en-US" sz="2400" dirty="0">
              <a:latin typeface="Comic Sans MS" pitchFamily="66" charset="0"/>
            </a:endParaRPr>
          </a:p>
          <a:p>
            <a:pPr marL="609600" indent="-609600">
              <a:lnSpc>
                <a:spcPct val="150000"/>
              </a:lnSpc>
              <a:buFont typeface="Wingdings" pitchFamily="2" charset="2"/>
              <a:buNone/>
            </a:pPr>
            <a:endParaRPr lang="en-US" sz="2400" dirty="0">
              <a:latin typeface="Comic Sans MS" pitchFamily="66" charset="0"/>
            </a:endParaRP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Comic Sans MS" pitchFamily="66" charset="0"/>
              </a:rPr>
              <a:t>PV = CF/ (1+r)</a:t>
            </a:r>
            <a:r>
              <a:rPr lang="en-US" sz="2400" baseline="30000" dirty="0">
                <a:latin typeface="Comic Sans MS" pitchFamily="66" charset="0"/>
              </a:rPr>
              <a:t>n     </a:t>
            </a:r>
            <a:r>
              <a:rPr lang="en-US" sz="2400" dirty="0">
                <a:latin typeface="Comic Sans MS" pitchFamily="66" charset="0"/>
              </a:rPr>
              <a:t>PV = 100 / (1 + .10)</a:t>
            </a:r>
            <a:r>
              <a:rPr lang="en-US" sz="2400" baseline="30000" dirty="0">
                <a:latin typeface="Comic Sans MS" pitchFamily="66" charset="0"/>
              </a:rPr>
              <a:t>5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endParaRPr lang="en-US" sz="2400" baseline="30000" dirty="0">
              <a:latin typeface="Comic Sans MS" pitchFamily="66" charset="0"/>
            </a:endParaRP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Comic Sans MS" pitchFamily="66" charset="0"/>
              </a:rPr>
              <a:t>PV = Rs   62.09</a:t>
            </a:r>
          </a:p>
          <a:p>
            <a:pPr marL="609600" indent="-609600">
              <a:lnSpc>
                <a:spcPct val="150000"/>
              </a:lnSpc>
              <a:buFont typeface="Wingdings" pitchFamily="2" charset="2"/>
              <a:buNone/>
            </a:pPr>
            <a:endParaRPr lang="en-US" sz="2400" dirty="0">
              <a:latin typeface="Comic Sans MS" pitchFamily="66" charset="0"/>
            </a:endParaRPr>
          </a:p>
          <a:p>
            <a:pPr marL="609600" indent="-609600">
              <a:lnSpc>
                <a:spcPct val="150000"/>
              </a:lnSpc>
              <a:buFont typeface="Wingdings" pitchFamily="2" charset="2"/>
              <a:buNone/>
            </a:pPr>
            <a:r>
              <a:rPr lang="en-US" sz="2400" dirty="0">
                <a:latin typeface="Comic Sans MS" pitchFamily="66" charset="0"/>
              </a:rPr>
              <a:t>.</a:t>
            </a:r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EAF3F-D61A-4653-B856-CC685150C4CD}" type="slidenum">
              <a:rPr lang="en-US"/>
              <a:pPr/>
              <a:t>8</a:t>
            </a:fld>
            <a:endParaRPr lang="en-US"/>
          </a:p>
        </p:txBody>
      </p:sp>
      <p:sp>
        <p:nvSpPr>
          <p:cNvPr id="38916" name="Line 4"/>
          <p:cNvSpPr>
            <a:spLocks noChangeShapeType="1"/>
          </p:cNvSpPr>
          <p:nvPr/>
        </p:nvSpPr>
        <p:spPr bwMode="auto">
          <a:xfrm>
            <a:off x="1600200" y="3886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8917" name="Line 5"/>
          <p:cNvSpPr>
            <a:spLocks noChangeShapeType="1"/>
          </p:cNvSpPr>
          <p:nvPr/>
        </p:nvSpPr>
        <p:spPr bwMode="auto">
          <a:xfrm>
            <a:off x="1676400" y="4114800"/>
            <a:ext cx="518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6781800" y="3886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>
            <a:off x="2514600" y="3962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8922" name="Line 10"/>
          <p:cNvSpPr>
            <a:spLocks noChangeShapeType="1"/>
          </p:cNvSpPr>
          <p:nvPr/>
        </p:nvSpPr>
        <p:spPr bwMode="auto">
          <a:xfrm flipH="1">
            <a:off x="3581400" y="3962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>
            <a:off x="4648200" y="3962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8924" name="Line 12"/>
          <p:cNvSpPr>
            <a:spLocks noChangeShapeType="1"/>
          </p:cNvSpPr>
          <p:nvPr/>
        </p:nvSpPr>
        <p:spPr bwMode="auto">
          <a:xfrm flipH="1">
            <a:off x="5791200" y="3962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8925" name="Text Box 13"/>
          <p:cNvSpPr txBox="1">
            <a:spLocks noChangeArrowheads="1"/>
          </p:cNvSpPr>
          <p:nvPr/>
        </p:nvSpPr>
        <p:spPr bwMode="auto">
          <a:xfrm>
            <a:off x="1447800" y="42672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/>
              </a:rPr>
              <a:t>0</a:t>
            </a:r>
          </a:p>
        </p:txBody>
      </p:sp>
      <p:sp>
        <p:nvSpPr>
          <p:cNvPr id="38926" name="Text Box 14"/>
          <p:cNvSpPr txBox="1">
            <a:spLocks noChangeArrowheads="1"/>
          </p:cNvSpPr>
          <p:nvPr/>
        </p:nvSpPr>
        <p:spPr bwMode="auto">
          <a:xfrm>
            <a:off x="2362200" y="42672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/>
              </a:rPr>
              <a:t>1</a:t>
            </a:r>
          </a:p>
        </p:txBody>
      </p:sp>
      <p:sp>
        <p:nvSpPr>
          <p:cNvPr id="38927" name="Text Box 15"/>
          <p:cNvSpPr txBox="1">
            <a:spLocks noChangeArrowheads="1"/>
          </p:cNvSpPr>
          <p:nvPr/>
        </p:nvSpPr>
        <p:spPr bwMode="auto">
          <a:xfrm>
            <a:off x="3429000" y="42672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effectLst/>
              </a:rPr>
              <a:t>2</a:t>
            </a:r>
          </a:p>
        </p:txBody>
      </p:sp>
      <p:sp>
        <p:nvSpPr>
          <p:cNvPr id="38928" name="Text Box 16"/>
          <p:cNvSpPr txBox="1">
            <a:spLocks noChangeArrowheads="1"/>
          </p:cNvSpPr>
          <p:nvPr/>
        </p:nvSpPr>
        <p:spPr bwMode="auto">
          <a:xfrm>
            <a:off x="4495800" y="42672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/>
              </a:rPr>
              <a:t>3</a:t>
            </a:r>
          </a:p>
        </p:txBody>
      </p:sp>
      <p:sp>
        <p:nvSpPr>
          <p:cNvPr id="38929" name="Text Box 17"/>
          <p:cNvSpPr txBox="1">
            <a:spLocks noChangeArrowheads="1"/>
          </p:cNvSpPr>
          <p:nvPr/>
        </p:nvSpPr>
        <p:spPr bwMode="auto">
          <a:xfrm>
            <a:off x="5638800" y="42672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/>
              </a:rPr>
              <a:t>4</a:t>
            </a:r>
          </a:p>
        </p:txBody>
      </p:sp>
      <p:sp>
        <p:nvSpPr>
          <p:cNvPr id="38930" name="Text Box 18"/>
          <p:cNvSpPr txBox="1">
            <a:spLocks noChangeArrowheads="1"/>
          </p:cNvSpPr>
          <p:nvPr/>
        </p:nvSpPr>
        <p:spPr bwMode="auto">
          <a:xfrm>
            <a:off x="6629400" y="42672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/>
              </a:rPr>
              <a:t>5</a:t>
            </a:r>
          </a:p>
        </p:txBody>
      </p:sp>
      <p:sp>
        <p:nvSpPr>
          <p:cNvPr id="38932" name="Text Box 20"/>
          <p:cNvSpPr txBox="1">
            <a:spLocks noChangeArrowheads="1"/>
          </p:cNvSpPr>
          <p:nvPr/>
        </p:nvSpPr>
        <p:spPr bwMode="auto">
          <a:xfrm>
            <a:off x="6324600" y="3429000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omic Sans MS" pitchFamily="66" charset="0"/>
              </a:rPr>
              <a:t>Rs </a:t>
            </a:r>
            <a:r>
              <a:rPr lang="en-US" dirty="0">
                <a:effectLst/>
                <a:latin typeface="Comic Sans MS" pitchFamily="66" charset="0"/>
              </a:rPr>
              <a:t>100</a:t>
            </a:r>
          </a:p>
        </p:txBody>
      </p:sp>
      <p:sp>
        <p:nvSpPr>
          <p:cNvPr id="38933" name="Text Box 21"/>
          <p:cNvSpPr txBox="1">
            <a:spLocks noChangeArrowheads="1"/>
          </p:cNvSpPr>
          <p:nvPr/>
        </p:nvSpPr>
        <p:spPr bwMode="auto">
          <a:xfrm>
            <a:off x="1447800" y="34290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/>
              </a:rPr>
              <a:t>?</a:t>
            </a:r>
          </a:p>
        </p:txBody>
      </p:sp>
      <p:sp>
        <p:nvSpPr>
          <p:cNvPr id="38934" name="Line 22"/>
          <p:cNvSpPr>
            <a:spLocks noChangeShapeType="1"/>
          </p:cNvSpPr>
          <p:nvPr/>
        </p:nvSpPr>
        <p:spPr bwMode="auto">
          <a:xfrm flipH="1">
            <a:off x="1905000" y="3657600"/>
            <a:ext cx="44196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8935" name="Text Box 23"/>
          <p:cNvSpPr txBox="1">
            <a:spLocks noChangeArrowheads="1"/>
          </p:cNvSpPr>
          <p:nvPr/>
        </p:nvSpPr>
        <p:spPr bwMode="auto">
          <a:xfrm>
            <a:off x="4343400" y="3124200"/>
            <a:ext cx="1219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effectLst/>
                <a:latin typeface="Comic Sans MS" pitchFamily="66" charset="0"/>
              </a:rPr>
              <a:t> r = 10</a:t>
            </a:r>
            <a:r>
              <a:rPr lang="en-US" dirty="0">
                <a:effectLst/>
              </a:rPr>
              <a:t>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33400"/>
            <a:ext cx="7162800" cy="85953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Future Value of a Lump Sum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783560"/>
            <a:ext cx="7772400" cy="294084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omic Sans MS" pitchFamily="66" charset="0"/>
              </a:rPr>
              <a:t>Future value determines the amount that a sum of money invested today will grow to in a given period of time 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BCD80-4BE9-4D3C-8ECD-6ABA0D4B9D54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Comic Sans MS" pitchFamily="66" charset="0"/>
              </a:rPr>
              <a:t>Example of FV of a Lump Sum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295400"/>
            <a:ext cx="7772400" cy="5060160"/>
          </a:xfrm>
        </p:spPr>
        <p:txBody>
          <a:bodyPr>
            <a:normAutofit/>
          </a:bodyPr>
          <a:lstStyle/>
          <a:p>
            <a:pPr marL="609600" indent="-609600" algn="just">
              <a:lnSpc>
                <a:spcPct val="150000"/>
              </a:lnSpc>
            </a:pPr>
            <a:r>
              <a:rPr lang="en-US" sz="2400" dirty="0">
                <a:latin typeface="Comic Sans MS" pitchFamily="66" charset="0"/>
              </a:rPr>
              <a:t>How much money will you have in 5 years if you invest Rs 100 today at a 10% rate of return?</a:t>
            </a:r>
          </a:p>
          <a:p>
            <a:pPr marL="609600" indent="-609600" algn="just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sz="2400" dirty="0">
                <a:latin typeface="Comic Sans MS" pitchFamily="66" charset="0"/>
              </a:rPr>
              <a:t>Draw a timeline</a:t>
            </a:r>
          </a:p>
          <a:p>
            <a:pPr marL="609600" indent="-609600" algn="just">
              <a:lnSpc>
                <a:spcPct val="150000"/>
              </a:lnSpc>
              <a:buFont typeface="Wingdings" pitchFamily="2" charset="2"/>
              <a:buNone/>
            </a:pPr>
            <a:endParaRPr lang="en-US" sz="2400" dirty="0">
              <a:latin typeface="Comic Sans MS" pitchFamily="66" charset="0"/>
            </a:endParaRPr>
          </a:p>
          <a:p>
            <a:pPr marL="609600" indent="-609600" algn="just">
              <a:lnSpc>
                <a:spcPct val="150000"/>
              </a:lnSpc>
              <a:buFont typeface="Wingdings" pitchFamily="2" charset="2"/>
              <a:buNone/>
            </a:pPr>
            <a:endParaRPr lang="en-US" sz="2400" dirty="0">
              <a:latin typeface="Comic Sans MS" pitchFamily="66" charset="0"/>
            </a:endParaRPr>
          </a:p>
          <a:p>
            <a:pPr marL="609600" indent="-609600" algn="just">
              <a:lnSpc>
                <a:spcPct val="150000"/>
              </a:lnSpc>
              <a:buFont typeface="Wingdings" pitchFamily="2" charset="2"/>
              <a:buNone/>
            </a:pPr>
            <a:r>
              <a:rPr lang="en-US" sz="2800" dirty="0">
                <a:latin typeface="Comic Sans MS" pitchFamily="66" charset="0"/>
              </a:rPr>
              <a:t>FV</a:t>
            </a:r>
            <a:r>
              <a:rPr lang="en-US" sz="2800" baseline="-25000" dirty="0">
                <a:latin typeface="Comic Sans MS" pitchFamily="66" charset="0"/>
              </a:rPr>
              <a:t>t</a:t>
            </a:r>
            <a:r>
              <a:rPr lang="en-US" sz="2800" dirty="0">
                <a:latin typeface="Comic Sans MS" pitchFamily="66" charset="0"/>
              </a:rPr>
              <a:t> = CF</a:t>
            </a:r>
            <a:r>
              <a:rPr lang="en-US" sz="2800" baseline="-25000" dirty="0">
                <a:latin typeface="Comic Sans MS" pitchFamily="66" charset="0"/>
              </a:rPr>
              <a:t>0</a:t>
            </a:r>
            <a:r>
              <a:rPr lang="en-US" sz="2800" dirty="0">
                <a:latin typeface="Comic Sans MS" pitchFamily="66" charset="0"/>
              </a:rPr>
              <a:t> * (1+r)</a:t>
            </a:r>
            <a:r>
              <a:rPr lang="en-US" sz="2800" baseline="30000" dirty="0">
                <a:latin typeface="Comic Sans MS" pitchFamily="66" charset="0"/>
              </a:rPr>
              <a:t>n       </a:t>
            </a:r>
            <a:r>
              <a:rPr lang="en-US" sz="2800" dirty="0">
                <a:latin typeface="Comic Sans MS" pitchFamily="66" charset="0"/>
              </a:rPr>
              <a:t>FV =  Rs 100 * (1+.1)</a:t>
            </a:r>
            <a:r>
              <a:rPr lang="en-US" sz="2800" baseline="30000" dirty="0">
                <a:latin typeface="Comic Sans MS" pitchFamily="66" charset="0"/>
              </a:rPr>
              <a:t>5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800" dirty="0">
                <a:latin typeface="Comic Sans MS" pitchFamily="66" charset="0"/>
              </a:rPr>
              <a:t>FV = Rs 161.05</a:t>
            </a:r>
          </a:p>
          <a:p>
            <a:pPr marL="609600" indent="-609600" algn="just">
              <a:lnSpc>
                <a:spcPct val="150000"/>
              </a:lnSpc>
              <a:buFont typeface="Wingdings" pitchFamily="2" charset="2"/>
              <a:buNone/>
            </a:pPr>
            <a:endParaRPr lang="en-US" sz="2400" baseline="30000" dirty="0">
              <a:latin typeface="Comic Sans MS" pitchFamily="66" charset="0"/>
            </a:endParaRPr>
          </a:p>
          <a:p>
            <a:pPr marL="609600" indent="-609600">
              <a:buFont typeface="Wingdings" pitchFamily="2" charset="2"/>
              <a:buNone/>
            </a:pPr>
            <a:endParaRPr lang="en-US" sz="2200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2AB82-3522-4307-B201-917DF4410A50}" type="slidenum">
              <a:rPr lang="en-US"/>
              <a:pPr/>
              <a:t>10</a:t>
            </a:fld>
            <a:endParaRPr lang="en-US"/>
          </a:p>
        </p:txBody>
      </p:sp>
      <p:sp>
        <p:nvSpPr>
          <p:cNvPr id="41988" name="Line 4"/>
          <p:cNvSpPr>
            <a:spLocks noChangeShapeType="1"/>
          </p:cNvSpPr>
          <p:nvPr/>
        </p:nvSpPr>
        <p:spPr bwMode="auto">
          <a:xfrm>
            <a:off x="1676400" y="3962400"/>
            <a:ext cx="480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41989" name="Line 5"/>
          <p:cNvSpPr>
            <a:spLocks noChangeShapeType="1"/>
          </p:cNvSpPr>
          <p:nvPr/>
        </p:nvSpPr>
        <p:spPr bwMode="auto">
          <a:xfrm>
            <a:off x="16764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41990" name="Line 6"/>
          <p:cNvSpPr>
            <a:spLocks noChangeShapeType="1"/>
          </p:cNvSpPr>
          <p:nvPr/>
        </p:nvSpPr>
        <p:spPr bwMode="auto">
          <a:xfrm>
            <a:off x="64770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41991" name="Line 7"/>
          <p:cNvSpPr>
            <a:spLocks noChangeShapeType="1"/>
          </p:cNvSpPr>
          <p:nvPr/>
        </p:nvSpPr>
        <p:spPr bwMode="auto">
          <a:xfrm>
            <a:off x="25908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41992" name="Line 8"/>
          <p:cNvSpPr>
            <a:spLocks noChangeShapeType="1"/>
          </p:cNvSpPr>
          <p:nvPr/>
        </p:nvSpPr>
        <p:spPr bwMode="auto">
          <a:xfrm>
            <a:off x="35814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41993" name="Text Box 9"/>
          <p:cNvSpPr txBox="1">
            <a:spLocks noChangeArrowheads="1"/>
          </p:cNvSpPr>
          <p:nvPr/>
        </p:nvSpPr>
        <p:spPr bwMode="auto">
          <a:xfrm>
            <a:off x="1524000" y="41148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41994" name="Text Box 10"/>
          <p:cNvSpPr txBox="1">
            <a:spLocks noChangeArrowheads="1"/>
          </p:cNvSpPr>
          <p:nvPr/>
        </p:nvSpPr>
        <p:spPr bwMode="auto">
          <a:xfrm>
            <a:off x="2438400" y="41148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41995" name="Text Box 11"/>
          <p:cNvSpPr txBox="1">
            <a:spLocks noChangeArrowheads="1"/>
          </p:cNvSpPr>
          <p:nvPr/>
        </p:nvSpPr>
        <p:spPr bwMode="auto">
          <a:xfrm>
            <a:off x="3429000" y="41148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sp>
        <p:nvSpPr>
          <p:cNvPr id="41996" name="Text Box 12"/>
          <p:cNvSpPr txBox="1">
            <a:spLocks noChangeArrowheads="1"/>
          </p:cNvSpPr>
          <p:nvPr/>
        </p:nvSpPr>
        <p:spPr bwMode="auto">
          <a:xfrm>
            <a:off x="4419600" y="41148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sp>
        <p:nvSpPr>
          <p:cNvPr id="41997" name="Text Box 13"/>
          <p:cNvSpPr txBox="1">
            <a:spLocks noChangeArrowheads="1"/>
          </p:cNvSpPr>
          <p:nvPr/>
        </p:nvSpPr>
        <p:spPr bwMode="auto">
          <a:xfrm>
            <a:off x="1295400" y="3276600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Rs 100</a:t>
            </a: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6324600" y="32766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?</a:t>
            </a:r>
          </a:p>
        </p:txBody>
      </p:sp>
      <p:sp>
        <p:nvSpPr>
          <p:cNvPr id="41999" name="Line 15"/>
          <p:cNvSpPr>
            <a:spLocks noChangeShapeType="1"/>
          </p:cNvSpPr>
          <p:nvPr/>
        </p:nvSpPr>
        <p:spPr bwMode="auto">
          <a:xfrm>
            <a:off x="2057400" y="3505200"/>
            <a:ext cx="41910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42000" name="Text Box 16"/>
          <p:cNvSpPr txBox="1">
            <a:spLocks noChangeArrowheads="1"/>
          </p:cNvSpPr>
          <p:nvPr/>
        </p:nvSpPr>
        <p:spPr bwMode="auto">
          <a:xfrm>
            <a:off x="3886200" y="3048000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i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= 10%</a:t>
            </a:r>
          </a:p>
        </p:txBody>
      </p:sp>
      <p:sp>
        <p:nvSpPr>
          <p:cNvPr id="42001" name="Line 17"/>
          <p:cNvSpPr>
            <a:spLocks noChangeShapeType="1"/>
          </p:cNvSpPr>
          <p:nvPr/>
        </p:nvSpPr>
        <p:spPr bwMode="auto">
          <a:xfrm>
            <a:off x="45720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42002" name="Line 18"/>
          <p:cNvSpPr>
            <a:spLocks noChangeShapeType="1"/>
          </p:cNvSpPr>
          <p:nvPr/>
        </p:nvSpPr>
        <p:spPr bwMode="auto">
          <a:xfrm>
            <a:off x="55626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42003" name="Text Box 19"/>
          <p:cNvSpPr txBox="1">
            <a:spLocks noChangeArrowheads="1"/>
          </p:cNvSpPr>
          <p:nvPr/>
        </p:nvSpPr>
        <p:spPr bwMode="auto">
          <a:xfrm>
            <a:off x="5410200" y="41148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</a:p>
        </p:txBody>
      </p:sp>
      <p:sp>
        <p:nvSpPr>
          <p:cNvPr id="42004" name="Text Box 20"/>
          <p:cNvSpPr txBox="1">
            <a:spLocks noChangeArrowheads="1"/>
          </p:cNvSpPr>
          <p:nvPr/>
        </p:nvSpPr>
        <p:spPr bwMode="auto">
          <a:xfrm>
            <a:off x="6324600" y="41148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Calculate the compound value of </a:t>
            </a:r>
            <a:r>
              <a:rPr lang="en-US" sz="2000" dirty="0" err="1"/>
              <a:t>Rs</a:t>
            </a:r>
            <a:r>
              <a:rPr lang="en-US" sz="2000" dirty="0"/>
              <a:t>. 10,000 at the end of 3 year at 12 % rate of interest, when interest is calculated on </a:t>
            </a:r>
          </a:p>
          <a:p>
            <a:r>
              <a:rPr lang="en-US" sz="2000" dirty="0"/>
              <a:t>1. yearly basis</a:t>
            </a:r>
          </a:p>
          <a:p>
            <a:r>
              <a:rPr lang="en-US" sz="2000" dirty="0"/>
              <a:t>2. quarterly basis [ FV = CF0* (1+r/m)</a:t>
            </a:r>
            <a:r>
              <a:rPr lang="en-US" sz="2000" dirty="0" err="1"/>
              <a:t>mxn</a:t>
            </a:r>
            <a:r>
              <a:rPr lang="en-US" sz="20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92278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581400" y="381000"/>
            <a:ext cx="3124200" cy="93573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Comic Sans MS" pitchFamily="66" charset="0"/>
              </a:rPr>
              <a:t>Annuities</a:t>
            </a:r>
            <a:r>
              <a:rPr lang="en-US" dirty="0"/>
              <a:t>	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783560"/>
            <a:ext cx="7772400" cy="27884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omic Sans MS" pitchFamily="66" charset="0"/>
              </a:rPr>
              <a:t>An annuity is a cash flow stream in which the cash flows are all equal and occur at regular intervals. 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D3426-7EEB-4782-9869-07076C526124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304800"/>
            <a:ext cx="6019800" cy="762000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Comic Sans MS" pitchFamily="66" charset="0"/>
              </a:rPr>
              <a:t>Example of PV of an Annuity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219200"/>
            <a:ext cx="7772400" cy="5136360"/>
          </a:xfrm>
        </p:spPr>
        <p:txBody>
          <a:bodyPr/>
          <a:lstStyle/>
          <a:p>
            <a:pPr marL="609600" indent="-609600">
              <a:lnSpc>
                <a:spcPct val="150000"/>
              </a:lnSpc>
            </a:pPr>
            <a:r>
              <a:rPr lang="en-US" sz="2400" dirty="0">
                <a:latin typeface="Comic Sans MS" pitchFamily="66" charset="0"/>
              </a:rPr>
              <a:t>Assume that Sandy owns an investment that will pay her Rs 100O for 20 years. The current interest rate is 15%. What is the PV of this annuity?</a:t>
            </a:r>
            <a:r>
              <a:rPr lang="en-US" sz="2400" dirty="0"/>
              <a:t> PVA=FV * FVAF </a:t>
            </a:r>
            <a:r>
              <a:rPr lang="en-US" sz="1600" dirty="0"/>
              <a:t>(r,n)</a:t>
            </a:r>
          </a:p>
          <a:p>
            <a:pPr marL="609600" indent="-609600">
              <a:lnSpc>
                <a:spcPct val="150000"/>
              </a:lnSpc>
            </a:pPr>
            <a:endParaRPr lang="en-US" sz="2400" dirty="0">
              <a:latin typeface="Comic Sans MS" pitchFamily="66" charset="0"/>
            </a:endParaRPr>
          </a:p>
          <a:p>
            <a:pPr marL="609600" indent="-609600">
              <a:lnSpc>
                <a:spcPct val="150000"/>
              </a:lnSpc>
            </a:pPr>
            <a:endParaRPr lang="en-US" sz="2400" dirty="0">
              <a:latin typeface="Comic Sans MS" pitchFamily="66" charset="0"/>
            </a:endParaRPr>
          </a:p>
        </p:txBody>
      </p:sp>
      <p:sp>
        <p:nvSpPr>
          <p:cNvPr id="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8BB23-E4DD-47E1-986C-E5EDC541EE04}" type="slidenum">
              <a:rPr lang="en-US"/>
              <a:pPr/>
              <a:t>13</a:t>
            </a:fld>
            <a:endParaRPr lang="en-US"/>
          </a:p>
        </p:txBody>
      </p:sp>
      <p:sp>
        <p:nvSpPr>
          <p:cNvPr id="54277" name="Line 5"/>
          <p:cNvSpPr>
            <a:spLocks noChangeShapeType="1"/>
          </p:cNvSpPr>
          <p:nvPr/>
        </p:nvSpPr>
        <p:spPr bwMode="auto">
          <a:xfrm>
            <a:off x="1371600" y="4114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4278" name="Line 6"/>
          <p:cNvSpPr>
            <a:spLocks noChangeShapeType="1"/>
          </p:cNvSpPr>
          <p:nvPr/>
        </p:nvSpPr>
        <p:spPr bwMode="auto">
          <a:xfrm>
            <a:off x="1371600" y="4495800"/>
            <a:ext cx="586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4279" name="Line 7"/>
          <p:cNvSpPr>
            <a:spLocks noChangeShapeType="1"/>
          </p:cNvSpPr>
          <p:nvPr/>
        </p:nvSpPr>
        <p:spPr bwMode="auto">
          <a:xfrm>
            <a:off x="7239000" y="4114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4280" name="Line 8"/>
          <p:cNvSpPr>
            <a:spLocks noChangeShapeType="1"/>
          </p:cNvSpPr>
          <p:nvPr/>
        </p:nvSpPr>
        <p:spPr bwMode="auto">
          <a:xfrm>
            <a:off x="1828800" y="4267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>
            <a:off x="2362200" y="4267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>
            <a:off x="2895600" y="4267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4292" name="Text Box 20"/>
          <p:cNvSpPr txBox="1">
            <a:spLocks noChangeArrowheads="1"/>
          </p:cNvSpPr>
          <p:nvPr/>
        </p:nvSpPr>
        <p:spPr bwMode="auto">
          <a:xfrm>
            <a:off x="1219200" y="48006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54293" name="Text Box 21"/>
          <p:cNvSpPr txBox="1">
            <a:spLocks noChangeArrowheads="1"/>
          </p:cNvSpPr>
          <p:nvPr/>
        </p:nvSpPr>
        <p:spPr bwMode="auto">
          <a:xfrm>
            <a:off x="1676400" y="48006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54294" name="Text Box 22"/>
          <p:cNvSpPr txBox="1">
            <a:spLocks noChangeArrowheads="1"/>
          </p:cNvSpPr>
          <p:nvPr/>
        </p:nvSpPr>
        <p:spPr bwMode="auto">
          <a:xfrm>
            <a:off x="2209800" y="48006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sp>
        <p:nvSpPr>
          <p:cNvPr id="54295" name="Text Box 23"/>
          <p:cNvSpPr txBox="1">
            <a:spLocks noChangeArrowheads="1"/>
          </p:cNvSpPr>
          <p:nvPr/>
        </p:nvSpPr>
        <p:spPr bwMode="auto">
          <a:xfrm>
            <a:off x="2743200" y="48006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sp>
        <p:nvSpPr>
          <p:cNvPr id="54296" name="Text Box 24"/>
          <p:cNvSpPr txBox="1">
            <a:spLocks noChangeArrowheads="1"/>
          </p:cNvSpPr>
          <p:nvPr/>
        </p:nvSpPr>
        <p:spPr bwMode="auto">
          <a:xfrm>
            <a:off x="3124200" y="48006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………………………….</a:t>
            </a:r>
          </a:p>
        </p:txBody>
      </p:sp>
      <p:sp>
        <p:nvSpPr>
          <p:cNvPr id="54298" name="Text Box 26"/>
          <p:cNvSpPr txBox="1">
            <a:spLocks noChangeArrowheads="1"/>
          </p:cNvSpPr>
          <p:nvPr/>
        </p:nvSpPr>
        <p:spPr bwMode="auto">
          <a:xfrm>
            <a:off x="7010400" y="48768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20</a:t>
            </a:r>
          </a:p>
        </p:txBody>
      </p:sp>
      <p:sp>
        <p:nvSpPr>
          <p:cNvPr id="54299" name="Text Box 27"/>
          <p:cNvSpPr txBox="1">
            <a:spLocks noChangeArrowheads="1"/>
          </p:cNvSpPr>
          <p:nvPr/>
        </p:nvSpPr>
        <p:spPr bwMode="auto">
          <a:xfrm>
            <a:off x="1371600" y="38862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1000</a:t>
            </a:r>
          </a:p>
        </p:txBody>
      </p:sp>
      <p:sp>
        <p:nvSpPr>
          <p:cNvPr id="54300" name="Text Box 28"/>
          <p:cNvSpPr txBox="1">
            <a:spLocks noChangeArrowheads="1"/>
          </p:cNvSpPr>
          <p:nvPr/>
        </p:nvSpPr>
        <p:spPr bwMode="auto">
          <a:xfrm>
            <a:off x="1981200" y="38862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1000</a:t>
            </a:r>
          </a:p>
        </p:txBody>
      </p:sp>
      <p:sp>
        <p:nvSpPr>
          <p:cNvPr id="54301" name="Text Box 29"/>
          <p:cNvSpPr txBox="1">
            <a:spLocks noChangeArrowheads="1"/>
          </p:cNvSpPr>
          <p:nvPr/>
        </p:nvSpPr>
        <p:spPr bwMode="auto">
          <a:xfrm>
            <a:off x="2590800" y="38862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1000</a:t>
            </a:r>
          </a:p>
        </p:txBody>
      </p:sp>
      <p:sp>
        <p:nvSpPr>
          <p:cNvPr id="54303" name="Text Box 31"/>
          <p:cNvSpPr txBox="1">
            <a:spLocks noChangeArrowheads="1"/>
          </p:cNvSpPr>
          <p:nvPr/>
        </p:nvSpPr>
        <p:spPr bwMode="auto">
          <a:xfrm>
            <a:off x="6877050" y="3789363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1000</a:t>
            </a:r>
          </a:p>
        </p:txBody>
      </p:sp>
      <p:sp>
        <p:nvSpPr>
          <p:cNvPr id="54307" name="Line 35"/>
          <p:cNvSpPr>
            <a:spLocks noChangeShapeType="1"/>
          </p:cNvSpPr>
          <p:nvPr/>
        </p:nvSpPr>
        <p:spPr bwMode="auto">
          <a:xfrm>
            <a:off x="1828800" y="533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4308" name="Line 36"/>
          <p:cNvSpPr>
            <a:spLocks noChangeShapeType="1"/>
          </p:cNvSpPr>
          <p:nvPr/>
        </p:nvSpPr>
        <p:spPr bwMode="auto">
          <a:xfrm>
            <a:off x="2362200" y="533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4309" name="Line 37"/>
          <p:cNvSpPr>
            <a:spLocks noChangeShapeType="1"/>
          </p:cNvSpPr>
          <p:nvPr/>
        </p:nvSpPr>
        <p:spPr bwMode="auto">
          <a:xfrm>
            <a:off x="2895600" y="533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4311" name="Line 39"/>
          <p:cNvSpPr>
            <a:spLocks noChangeShapeType="1"/>
          </p:cNvSpPr>
          <p:nvPr/>
        </p:nvSpPr>
        <p:spPr bwMode="auto">
          <a:xfrm>
            <a:off x="7239000" y="533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4313" name="Line 41"/>
          <p:cNvSpPr>
            <a:spLocks noChangeShapeType="1"/>
          </p:cNvSpPr>
          <p:nvPr/>
        </p:nvSpPr>
        <p:spPr bwMode="auto">
          <a:xfrm flipH="1">
            <a:off x="1219200" y="5867400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4315" name="Text Box 43"/>
          <p:cNvSpPr txBox="1">
            <a:spLocks noChangeArrowheads="1"/>
          </p:cNvSpPr>
          <p:nvPr/>
        </p:nvSpPr>
        <p:spPr bwMode="auto">
          <a:xfrm>
            <a:off x="914400" y="56388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?</a:t>
            </a:r>
          </a:p>
        </p:txBody>
      </p:sp>
      <p:sp>
        <p:nvSpPr>
          <p:cNvPr id="54316" name="Text Box 44"/>
          <p:cNvSpPr txBox="1">
            <a:spLocks noChangeArrowheads="1"/>
          </p:cNvSpPr>
          <p:nvPr/>
        </p:nvSpPr>
        <p:spPr bwMode="auto">
          <a:xfrm>
            <a:off x="3429000" y="60198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i = 15%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81000"/>
                <a:ext cx="8229600" cy="5745163"/>
              </a:xfrm>
            </p:spPr>
            <p:txBody>
              <a:bodyPr/>
              <a:lstStyle/>
              <a:p>
                <a:r>
                  <a:rPr lang="pt-BR" dirty="0"/>
                  <a:t>PVA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pt-BR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  <m:e/>
                    </m:nary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1+</m:t>
                            </m:r>
                            <m:r>
                              <a:rPr lang="en-US" b="0" i="1" dirty="0" smtClean="0">
                                <a:latin typeface="Cambria Math"/>
                              </a:rPr>
                              <m:t>𝑟</m:t>
                            </m:r>
                          </m:e>
                        </m:d>
                        <m:r>
                          <a:rPr lang="en-US" b="0" i="1" dirty="0" smtClean="0">
                            <a:latin typeface="Cambria Math"/>
                          </a:rPr>
                          <m:t>𝑡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81000"/>
                <a:ext cx="8229600" cy="5745163"/>
              </a:xfrm>
              <a:blipFill rotWithShape="1">
                <a:blip r:embed="rId3"/>
                <a:stretch>
                  <a:fillRect l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5257800"/>
            <a:ext cx="4294187" cy="89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AutoShape 2" descr="Thre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737" y="1166814"/>
            <a:ext cx="6218819" cy="3938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7954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What is the present value of an annuity that makes 5 annual payments of </a:t>
            </a:r>
            <a:r>
              <a:rPr lang="en-US" sz="2400" dirty="0" err="1"/>
              <a:t>Rs</a:t>
            </a:r>
            <a:r>
              <a:rPr lang="en-US" sz="2400" dirty="0"/>
              <a:t>. 200 each if the discount rate is 12%</a:t>
            </a:r>
          </a:p>
          <a:p>
            <a:endParaRPr lang="en-US" sz="2400" dirty="0"/>
          </a:p>
          <a:p>
            <a:r>
              <a:rPr lang="en-US" sz="2800" b="1" dirty="0">
                <a:solidFill>
                  <a:srgbClr val="FF0000"/>
                </a:solidFill>
              </a:rPr>
              <a:t>present value of an annuity due</a:t>
            </a:r>
          </a:p>
          <a:p>
            <a:r>
              <a:rPr lang="en-US" sz="2400" dirty="0"/>
              <a:t>present value of an annuity due takes into account the fact that payments are made at the beginning rather than the end of each period.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800600"/>
            <a:ext cx="49657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6454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Suppose you are a beneficiary designated to immediately receive Rs.1000 each year for 10 years, earning an annual interest rate of 3%. What will be the value of stream of payments  today?</a:t>
            </a:r>
          </a:p>
          <a:p>
            <a:r>
              <a:rPr lang="en-US" sz="2400" dirty="0" err="1"/>
              <a:t>Ans</a:t>
            </a:r>
            <a:r>
              <a:rPr lang="en-US" sz="2400" dirty="0"/>
              <a:t>: </a:t>
            </a:r>
            <a:r>
              <a:rPr lang="en-US" sz="2400" dirty="0" err="1"/>
              <a:t>Rs</a:t>
            </a:r>
            <a:r>
              <a:rPr lang="en-US" sz="2400" dirty="0"/>
              <a:t>. 8,786.11.</a:t>
            </a:r>
          </a:p>
          <a:p>
            <a:r>
              <a:rPr lang="en-US" sz="2400" dirty="0"/>
              <a:t>An individual makes rental payments of </a:t>
            </a:r>
            <a:r>
              <a:rPr lang="en-US" sz="2400" dirty="0" err="1"/>
              <a:t>Rs</a:t>
            </a:r>
            <a:r>
              <a:rPr lang="en-US" sz="2400" dirty="0"/>
              <a:t>. 1,200 per month and wants to know the present value of their annual rentals over a 12-month period. The payments are made at the start of each month. The current interest rate is 8% per annum.</a:t>
            </a:r>
          </a:p>
          <a:p>
            <a:r>
              <a:rPr lang="en-US" sz="2400" dirty="0"/>
              <a:t>PV of the Investment = </a:t>
            </a:r>
            <a:r>
              <a:rPr lang="en-US" sz="2400" dirty="0" err="1"/>
              <a:t>Rs</a:t>
            </a:r>
            <a:r>
              <a:rPr lang="en-US" sz="2400" dirty="0"/>
              <a:t>. 13,886.90</a:t>
            </a:r>
          </a:p>
        </p:txBody>
      </p:sp>
    </p:spTree>
    <p:extLst>
      <p:ext uri="{BB962C8B-B14F-4D97-AF65-F5344CB8AC3E}">
        <p14:creationId xmlns:p14="http://schemas.microsoft.com/office/powerpoint/2010/main" val="11411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772400" cy="914400"/>
          </a:xfrm>
        </p:spPr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  <a:latin typeface="Comic Sans MS" pitchFamily="66" charset="0"/>
              </a:rPr>
              <a:t>FV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of an Annuity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219200"/>
            <a:ext cx="7772400" cy="5136360"/>
          </a:xfrm>
        </p:spPr>
        <p:txBody>
          <a:bodyPr/>
          <a:lstStyle/>
          <a:p>
            <a:pPr marL="609600" indent="-609600">
              <a:lnSpc>
                <a:spcPct val="150000"/>
              </a:lnSpc>
            </a:pPr>
            <a:r>
              <a:rPr lang="en-US" sz="2400" dirty="0">
                <a:latin typeface="Comic Sans MS" pitchFamily="66" charset="0"/>
              </a:rPr>
              <a:t>Assume that Sandy owns an investment that will pay her Rs 100 each year for 20 years. The current interest rate is 15%. What is the FV of this annuity?</a:t>
            </a:r>
          </a:p>
        </p:txBody>
      </p:sp>
      <p:sp>
        <p:nvSpPr>
          <p:cNvPr id="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C67C2-883B-402E-AEB0-3F053ED131DF}" type="slidenum">
              <a:rPr lang="en-US"/>
              <a:pPr/>
              <a:t>17</a:t>
            </a:fld>
            <a:endParaRPr lang="en-US"/>
          </a:p>
        </p:txBody>
      </p:sp>
      <p:sp>
        <p:nvSpPr>
          <p:cNvPr id="57348" name="Line 4"/>
          <p:cNvSpPr>
            <a:spLocks noChangeShapeType="1"/>
          </p:cNvSpPr>
          <p:nvPr/>
        </p:nvSpPr>
        <p:spPr bwMode="auto">
          <a:xfrm>
            <a:off x="1066800" y="4724400"/>
            <a:ext cx="586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7349" name="Line 5"/>
          <p:cNvSpPr>
            <a:spLocks noChangeShapeType="1"/>
          </p:cNvSpPr>
          <p:nvPr/>
        </p:nvSpPr>
        <p:spPr bwMode="auto">
          <a:xfrm>
            <a:off x="6934200" y="4343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7350" name="Line 6"/>
          <p:cNvSpPr>
            <a:spLocks noChangeShapeType="1"/>
          </p:cNvSpPr>
          <p:nvPr/>
        </p:nvSpPr>
        <p:spPr bwMode="auto">
          <a:xfrm>
            <a:off x="1524000" y="4495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auto">
          <a:xfrm flipH="1">
            <a:off x="6400800" y="4495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1371600" y="50292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57358" name="Text Box 14"/>
          <p:cNvSpPr txBox="1">
            <a:spLocks noChangeArrowheads="1"/>
          </p:cNvSpPr>
          <p:nvPr/>
        </p:nvSpPr>
        <p:spPr bwMode="auto">
          <a:xfrm>
            <a:off x="2819400" y="50292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………………………….</a:t>
            </a:r>
          </a:p>
        </p:txBody>
      </p:sp>
      <p:sp>
        <p:nvSpPr>
          <p:cNvPr id="57359" name="Text Box 15"/>
          <p:cNvSpPr txBox="1">
            <a:spLocks noChangeArrowheads="1"/>
          </p:cNvSpPr>
          <p:nvPr/>
        </p:nvSpPr>
        <p:spPr bwMode="auto">
          <a:xfrm>
            <a:off x="6172200" y="51054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19</a:t>
            </a:r>
          </a:p>
        </p:txBody>
      </p:sp>
      <p:sp>
        <p:nvSpPr>
          <p:cNvPr id="57360" name="Text Box 16"/>
          <p:cNvSpPr txBox="1">
            <a:spLocks noChangeArrowheads="1"/>
          </p:cNvSpPr>
          <p:nvPr/>
        </p:nvSpPr>
        <p:spPr bwMode="auto">
          <a:xfrm>
            <a:off x="6705600" y="51054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20</a:t>
            </a:r>
          </a:p>
        </p:txBody>
      </p:sp>
      <p:sp>
        <p:nvSpPr>
          <p:cNvPr id="57361" name="Text Box 17"/>
          <p:cNvSpPr txBox="1">
            <a:spLocks noChangeArrowheads="1"/>
          </p:cNvSpPr>
          <p:nvPr/>
        </p:nvSpPr>
        <p:spPr bwMode="auto">
          <a:xfrm>
            <a:off x="1066800" y="41148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100</a:t>
            </a:r>
          </a:p>
        </p:txBody>
      </p:sp>
      <p:sp>
        <p:nvSpPr>
          <p:cNvPr id="57364" name="Text Box 20"/>
          <p:cNvSpPr txBox="1">
            <a:spLocks noChangeArrowheads="1"/>
          </p:cNvSpPr>
          <p:nvPr/>
        </p:nvSpPr>
        <p:spPr bwMode="auto">
          <a:xfrm>
            <a:off x="5867400" y="4005263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100</a:t>
            </a:r>
          </a:p>
        </p:txBody>
      </p:sp>
      <p:sp>
        <p:nvSpPr>
          <p:cNvPr id="57365" name="Text Box 21"/>
          <p:cNvSpPr txBox="1">
            <a:spLocks noChangeArrowheads="1"/>
          </p:cNvSpPr>
          <p:nvPr/>
        </p:nvSpPr>
        <p:spPr bwMode="auto">
          <a:xfrm>
            <a:off x="6588125" y="4005263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100</a:t>
            </a:r>
          </a:p>
        </p:txBody>
      </p:sp>
      <p:sp>
        <p:nvSpPr>
          <p:cNvPr id="57366" name="Line 22"/>
          <p:cNvSpPr>
            <a:spLocks noChangeShapeType="1"/>
          </p:cNvSpPr>
          <p:nvPr/>
        </p:nvSpPr>
        <p:spPr bwMode="auto">
          <a:xfrm>
            <a:off x="1524000" y="5562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7369" name="Line 25"/>
          <p:cNvSpPr>
            <a:spLocks noChangeShapeType="1"/>
          </p:cNvSpPr>
          <p:nvPr/>
        </p:nvSpPr>
        <p:spPr bwMode="auto">
          <a:xfrm>
            <a:off x="6400800" y="5562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7370" name="Line 26"/>
          <p:cNvSpPr>
            <a:spLocks noChangeShapeType="1"/>
          </p:cNvSpPr>
          <p:nvPr/>
        </p:nvSpPr>
        <p:spPr bwMode="auto">
          <a:xfrm>
            <a:off x="6934200" y="5562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7372" name="Text Box 28"/>
          <p:cNvSpPr txBox="1">
            <a:spLocks noChangeArrowheads="1"/>
          </p:cNvSpPr>
          <p:nvPr/>
        </p:nvSpPr>
        <p:spPr bwMode="auto">
          <a:xfrm>
            <a:off x="3124200" y="62484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i = 15%</a:t>
            </a:r>
          </a:p>
        </p:txBody>
      </p:sp>
      <p:sp>
        <p:nvSpPr>
          <p:cNvPr id="57373" name="Line 29"/>
          <p:cNvSpPr>
            <a:spLocks noChangeShapeType="1"/>
          </p:cNvSpPr>
          <p:nvPr/>
        </p:nvSpPr>
        <p:spPr bwMode="auto">
          <a:xfrm>
            <a:off x="1524000" y="6096000"/>
            <a:ext cx="5568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7374" name="Text Box 30"/>
          <p:cNvSpPr txBox="1">
            <a:spLocks noChangeArrowheads="1"/>
          </p:cNvSpPr>
          <p:nvPr/>
        </p:nvSpPr>
        <p:spPr bwMode="auto">
          <a:xfrm>
            <a:off x="7019925" y="580548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Cont</a:t>
            </a:r>
            <a:r>
              <a:rPr lang="en-US" dirty="0"/>
              <a:t>…..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sz="2400" dirty="0"/>
              <a:t>let's assume that you invest $1,000 every year for the next five years, at 5% interest. how much you would have at the end of the five-year period.</a:t>
            </a:r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438400"/>
            <a:ext cx="777875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2982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where:</a:t>
            </a:r>
          </a:p>
          <a:p>
            <a:pPr marL="0" indent="0">
              <a:buNone/>
            </a:pPr>
            <a:r>
              <a:rPr lang="en-US" dirty="0"/>
              <a:t>C=cash flow per period</a:t>
            </a:r>
          </a:p>
          <a:p>
            <a:pPr marL="0" indent="0">
              <a:buNone/>
            </a:pPr>
            <a:r>
              <a:rPr lang="en-US" dirty="0"/>
              <a:t>r=interest rate</a:t>
            </a:r>
          </a:p>
          <a:p>
            <a:pPr marL="0" indent="0">
              <a:buNone/>
            </a:pPr>
            <a:r>
              <a:rPr lang="en-US" i="1" dirty="0"/>
              <a:t>n</a:t>
            </a:r>
            <a:r>
              <a:rPr lang="en-US" dirty="0"/>
              <a:t>=number of payments​</a:t>
            </a:r>
            <a:br>
              <a:rPr lang="en-US" dirty="0"/>
            </a:b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599" y="1600200"/>
            <a:ext cx="5347689" cy="143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5157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Calculate the future value of an annuity from the data given below.</a:t>
            </a:r>
          </a:p>
          <a:p>
            <a:pPr marL="0" indent="0">
              <a:buNone/>
            </a:pPr>
            <a:r>
              <a:rPr lang="en-US" sz="2400" dirty="0"/>
              <a:t>C = the cash flow per period, in this case, Rs.1000</a:t>
            </a:r>
          </a:p>
          <a:p>
            <a:pPr marL="0" indent="0">
              <a:buNone/>
            </a:pPr>
            <a:r>
              <a:rPr lang="en-US" sz="2400" dirty="0"/>
              <a:t>r = the interest rate, in this case, 4%</a:t>
            </a:r>
          </a:p>
          <a:p>
            <a:pPr marL="0" indent="0">
              <a:buNone/>
            </a:pPr>
            <a:r>
              <a:rPr lang="en-US" sz="2400" dirty="0"/>
              <a:t>n = the number of periods,  12</a:t>
            </a:r>
          </a:p>
        </p:txBody>
      </p:sp>
    </p:spTree>
    <p:extLst>
      <p:ext uri="{BB962C8B-B14F-4D97-AF65-F5344CB8AC3E}">
        <p14:creationId xmlns:p14="http://schemas.microsoft.com/office/powerpoint/2010/main" val="1346211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FV of an Annuity Due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71600"/>
            <a:ext cx="6242371" cy="1295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762000" y="3276600"/>
            <a:ext cx="8153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company wants to invest </a:t>
            </a:r>
            <a:r>
              <a:rPr lang="en-US" sz="2400" dirty="0" err="1"/>
              <a:t>Rs</a:t>
            </a:r>
            <a:r>
              <a:rPr lang="en-US" sz="2400" dirty="0"/>
              <a:t>. 3,500 every six months for four years to purchase a delivery truck. The investment will be compounded at an annual interest rate of 12% per annum. The initial investment will be made now, and thereafter, at the beginning of every six months. What is the future value of the cash flow payments?</a:t>
            </a:r>
          </a:p>
        </p:txBody>
      </p:sp>
    </p:spTree>
    <p:extLst>
      <p:ext uri="{BB962C8B-B14F-4D97-AF65-F5344CB8AC3E}">
        <p14:creationId xmlns:p14="http://schemas.microsoft.com/office/powerpoint/2010/main" val="520050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286000"/>
            <a:ext cx="4419600" cy="91440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itchFamily="66" charset="0"/>
              </a:rPr>
              <a:t>APPLICATONS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533400"/>
            <a:ext cx="7010400" cy="55473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Comic Sans MS" pitchFamily="66" charset="0"/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83560"/>
            <a:ext cx="7772400" cy="40838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Comic Sans MS" pitchFamily="66" charset="0"/>
              </a:rPr>
              <a:t>Suppose you have decided to deposit Rs 30,000/- in a public Provident fund Account for 30 years. What will be the accumulated amount in your account at the end of 30 years if interest rate is 9%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</TotalTime>
  <Words>978</Words>
  <Application>Microsoft Office PowerPoint</Application>
  <PresentationFormat>On-screen Show (4:3)</PresentationFormat>
  <Paragraphs>134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 Math</vt:lpstr>
      <vt:lpstr>Comic Sans MS</vt:lpstr>
      <vt:lpstr>Monotype Sorts</vt:lpstr>
      <vt:lpstr>Wingdings</vt:lpstr>
      <vt:lpstr>Office Theme</vt:lpstr>
      <vt:lpstr>Time value of money  The Magic of Compounding</vt:lpstr>
      <vt:lpstr>PowerPoint Presentation</vt:lpstr>
      <vt:lpstr>Reasons for TVM </vt:lpstr>
      <vt:lpstr>PowerPoint Presentation</vt:lpstr>
      <vt:lpstr>PowerPoint Presentation</vt:lpstr>
      <vt:lpstr>Types of TVM Calculations</vt:lpstr>
      <vt:lpstr>Present Value of a Lump Sum</vt:lpstr>
      <vt:lpstr>Example of PV of a Lump Sum</vt:lpstr>
      <vt:lpstr>Future Value of a Lump Sum</vt:lpstr>
      <vt:lpstr>Example of FV of a Lump Sum</vt:lpstr>
      <vt:lpstr>Example </vt:lpstr>
      <vt:lpstr>Annuities </vt:lpstr>
      <vt:lpstr>Example of PV of an Annuity</vt:lpstr>
      <vt:lpstr>PowerPoint Presentation</vt:lpstr>
      <vt:lpstr>Cont…</vt:lpstr>
      <vt:lpstr>Cont….</vt:lpstr>
      <vt:lpstr>FV of an Annuity</vt:lpstr>
      <vt:lpstr>Cont…..</vt:lpstr>
      <vt:lpstr>CONT….</vt:lpstr>
      <vt:lpstr>Cont….</vt:lpstr>
      <vt:lpstr>FV of an Annuity Due</vt:lpstr>
      <vt:lpstr>APPLICATONS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value of money  The Magic of Compounding</dc:title>
  <dc:creator/>
  <cp:lastModifiedBy>Welcome</cp:lastModifiedBy>
  <cp:revision>66</cp:revision>
  <dcterms:created xsi:type="dcterms:W3CDTF">2006-08-16T00:00:00Z</dcterms:created>
  <dcterms:modified xsi:type="dcterms:W3CDTF">2026-01-21T09:09:14Z</dcterms:modified>
</cp:coreProperties>
</file>